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5"/>
  </p:handoutMasterIdLst>
  <p:sldIdLst>
    <p:sldId id="256" r:id="rId3"/>
    <p:sldId id="257" r:id="rId5"/>
    <p:sldId id="269" r:id="rId6"/>
    <p:sldId id="270" r:id="rId7"/>
    <p:sldId id="271" r:id="rId8"/>
    <p:sldId id="272" r:id="rId9"/>
    <p:sldId id="273" r:id="rId10"/>
    <p:sldId id="274" r:id="rId11"/>
    <p:sldId id="275" r:id="rId12"/>
    <p:sldId id="276" r:id="rId13"/>
    <p:sldId id="268" r:id="rId14"/>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7" d="100"/>
          <a:sy n="77" d="100"/>
        </p:scale>
        <p:origin x="1546" y="58"/>
      </p:cViewPr>
      <p:guideLst>
        <p:guide orient="horz" pos="2160"/>
        <p:guide pos="285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ustomXml" Target="../customXml/item3.xml"/><Relationship Id="rId20" Type="http://schemas.openxmlformats.org/officeDocument/2006/relationships/customXml" Target="../customXml/item2.xml"/><Relationship Id="rId2" Type="http://schemas.openxmlformats.org/officeDocument/2006/relationships/theme" Target="theme/theme1.xml"/><Relationship Id="rId19" Type="http://schemas.openxmlformats.org/officeDocument/2006/relationships/customXml" Target="../customXml/item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altLang="en-US" sz="2000" b="1"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Machine Learning Based Drug-Drug Interaction Prediction:</a:t>
            </a:r>
            <a:endParaRPr lang="en-US" altLang="en-US" sz="2000" b="1"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altLang="en-US" sz="2000" b="1"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A TWOSIDES Dataset and Ensemble Classifier Approach</a:t>
            </a:r>
            <a:endParaRPr lang="en-US"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Paarth Sharma</a:t>
            </a:r>
            <a:endPar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2210990630</a:t>
            </a:r>
            <a:endPar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Dr. Monika Aggarwal</a:t>
            </a: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GB"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643" y="1109107"/>
            <a:ext cx="8838720" cy="4838571"/>
          </a:xfrm>
          <a:prstGeom prst="rect">
            <a:avLst/>
          </a:prstGeom>
          <a:noFill/>
          <a:ln w="9360">
            <a:noFill/>
          </a:ln>
        </p:spPr>
        <p:txBody>
          <a:bodyPr>
            <a:noAutofit/>
          </a:bodyPr>
          <a:lstStyle/>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Drug-Drug Interactions (DDIs) occur when the effect of one drug is altered by another drug taken simultaneously.</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DDIs can cause harmful side effects, reduced drug effectiveness, and serious health complications.</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Traditional methods for detecting drug interactions are expensive, time-consuming, and difficult to scale for the large number of possible drug combinations.</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Machine learning provides a faster and scalable approach for predicting potential drug interactions using real-world data and molecular information.</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This project uses the TWOSIDES dataset along with molecular fingerprints generated using RDKit.</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Multiple machine learning models including Logistic Regression, Random Forest, XGBoost, and a neural network using PyTorch were trained and evaluated.</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marL="171450" indent="-171450" algn="l">
              <a:lnSpc>
                <a:spcPct val="150000"/>
              </a:lnSpc>
              <a:spcBef>
                <a:spcPts val="400"/>
              </a:spcBef>
              <a:buFont typeface="Arial" panose="020B0604020202020204" pitchFamily="34" charset="0"/>
              <a:buChar char="•"/>
            </a:pPr>
            <a:r>
              <a:rPr lang="en-US" altLang="en-US" sz="1400" b="0" strike="noStrike" spc="-1" dirty="0">
                <a:solidFill>
                  <a:srgbClr val="000000"/>
                </a:solidFill>
                <a:latin typeface="Times New Roman" panose="02020603050405020304" pitchFamily="18" charset="0"/>
                <a:cs typeface="Times New Roman" panose="02020603050405020304" pitchFamily="18" charset="0"/>
              </a:rPr>
              <a:t>The objective of this project is to develop an efficient and scalable system for predicting potential drug-drug interactions.</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70485"/>
            <a:ext cx="8910320" cy="7025005"/>
          </a:xfrm>
          <a:prstGeom prst="rect">
            <a:avLst/>
          </a:prstGeom>
          <a:noFill/>
        </p:spPr>
        <p:txBody>
          <a:bodyPr wrap="square" rtlCol="0">
            <a:noAutofit/>
          </a:bodyPr>
          <a:p>
            <a:pPr marL="1371600" lvl="3" indent="457200"/>
            <a:r>
              <a:rPr lang="en-IN" altLang="en-US" sz="3200">
                <a:latin typeface="Times New Roman" panose="02020603050405020304" pitchFamily="18" charset="0"/>
                <a:cs typeface="Times New Roman" panose="02020603050405020304" pitchFamily="18" charset="0"/>
              </a:rPr>
              <a:t>Problem Statement</a:t>
            </a:r>
            <a:endParaRPr lang="en-IN" altLang="en-US" sz="3200">
              <a:latin typeface="Times New Roman" panose="02020603050405020304" pitchFamily="18" charset="0"/>
              <a:cs typeface="Times New Roman" panose="02020603050405020304" pitchFamily="18" charset="0"/>
            </a:endParaRPr>
          </a:p>
          <a:p>
            <a:endParaRPr lang="en-IN" altLang="en-US" sz="3200">
              <a:latin typeface="Times New Roman" panose="02020603050405020304" pitchFamily="18" charset="0"/>
              <a:cs typeface="Times New Roman" panose="02020603050405020304" pitchFamily="18" charset="0"/>
            </a:endParaRPr>
          </a:p>
          <a:p>
            <a:pPr marL="0" lvl="0" indent="0" algn="just">
              <a:lnSpc>
                <a:spcPct val="150000"/>
              </a:lnSpc>
              <a:buNone/>
            </a:pPr>
            <a:r>
              <a:rPr lang="en-US" altLang="en-US">
                <a:solidFill>
                  <a:schemeClr val="tx1"/>
                </a:solidFill>
                <a:latin typeface="Times New Roman" panose="02020603050405020304" pitchFamily="18" charset="0"/>
                <a:cs typeface="Times New Roman" panose="02020603050405020304" pitchFamily="18" charset="0"/>
              </a:rPr>
              <a:t>Drug-drug interactions (DDIs) are a major challenge in healthcare because combining multiple medications can lead to harmful side effects, reduced drug effectiveness, or serious medical complications. Traditional methods used for identifying drug interactions, such as laboratory testing and clinical trials, are expensive, time-consuming, and difficult to scale for the large number of possible drug combinations.</a:t>
            </a:r>
            <a:endParaRPr lang="en-US" altLang="en-US">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None/>
            </a:pPr>
            <a:endParaRPr lang="en-US" altLang="en-US">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None/>
            </a:pPr>
            <a:r>
              <a:rPr lang="en-US" altLang="en-US">
                <a:solidFill>
                  <a:schemeClr val="tx1"/>
                </a:solidFill>
                <a:latin typeface="Times New Roman" panose="02020603050405020304" pitchFamily="18" charset="0"/>
                <a:cs typeface="Times New Roman" panose="02020603050405020304" pitchFamily="18" charset="0"/>
              </a:rPr>
              <a:t>With the increasing use of multiple medications by patients, there is a need for an efficient and scalable system that can predict potential drug-drug interactions using computational methods. The objective of this project is to develop a machine learning-based DDI prediction system using molecular structure information and pharmacovigilance data to accurately identify potential interactions between drug pairs.</a:t>
            </a:r>
            <a:endParaRPr lang="en-US" alt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3034030" y="0"/>
            <a:ext cx="3504565" cy="913130"/>
          </a:xfrm>
        </p:spPr>
        <p:txBody>
          <a:bodyPr/>
          <a:p>
            <a:r>
              <a:rPr lang="en-IN" altLang="en-US" sz="3200">
                <a:latin typeface="Times New Roman" panose="02020603050405020304" pitchFamily="18" charset="0"/>
                <a:cs typeface="Times New Roman" panose="02020603050405020304" pitchFamily="18" charset="0"/>
              </a:rPr>
              <a:t>Objectives</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p:txBody>
          <a:bodyPr/>
          <a:p>
            <a:pPr algn="just">
              <a:lnSpc>
                <a:spcPct val="150000"/>
              </a:lnSpc>
            </a:pPr>
            <a:r>
              <a:rPr lang="en-US" altLang="en-US" sz="1400">
                <a:latin typeface="Times New Roman" panose="02020603050405020304" pitchFamily="18" charset="0"/>
                <a:cs typeface="Times New Roman" panose="02020603050405020304" pitchFamily="18" charset="0"/>
              </a:rPr>
              <a:t>To develop a machine learning-based system for predicting potential drug-drug interactions (DDIs).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use the TWOSIDES dataset for generating interaction labels using pharmacovigilance data.</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retrieve molecular structure information of drugs using PubChem and process it using RDKit.</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generate Morgan fingerprint representations for converting molecular structures into machine-learning-ready numerical vectors.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perform feature engineering using cosine similarity, shared molecular features, and structural difference vectors.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train and compare multiple machine learning models including Logistic Regression, Random Forest, XGBoost, and neural networks.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evaluate model performance using metrics such as accuracy, precision, recall, F1-score, and AUROC.</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To develop a simple prediction interface using Gradio for testing drug interaction predictions.</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726055" y="-79375"/>
            <a:ext cx="5486040" cy="914040"/>
          </a:xfrm>
        </p:spPr>
        <p:txBody>
          <a:bodyPr/>
          <a:p>
            <a:r>
              <a:rPr lang="en-IN" altLang="en-US" sz="3200">
                <a:latin typeface="Times New Roman" panose="02020603050405020304" pitchFamily="18" charset="0"/>
                <a:cs typeface="Times New Roman" panose="02020603050405020304" pitchFamily="18" charset="0"/>
              </a:rPr>
              <a:t>Dataset</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a:xfrm>
            <a:off x="0" y="913765"/>
            <a:ext cx="8686165" cy="5944235"/>
          </a:xfrm>
        </p:spPr>
        <p:txBody>
          <a:bodyPr/>
          <a:p>
            <a:pPr>
              <a:lnSpc>
                <a:spcPct val="100000"/>
              </a:lnSpc>
            </a:pPr>
            <a:r>
              <a:rPr lang="en-US" altLang="en-US" sz="1400">
                <a:latin typeface="Times New Roman" panose="02020603050405020304" pitchFamily="18" charset="0"/>
                <a:cs typeface="Times New Roman" panose="02020603050405020304" pitchFamily="18" charset="0"/>
              </a:rPr>
              <a:t>TWOSIDES dataset was used for drug interaction prediction.</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Dataset is based on FDA adverse event reports and contains drug pair interaction information.</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Includes statistical measures such as:</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Proportional Reporting Ratio (PRR)</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Reporting Frequency</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Initial dataset size: ~42.9 million records.</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Molecular structures were retrieved using PubChem and RxNorm.</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Balanced dataset used:</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79,980 positive samples</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79,980 negative samples</a:t>
            </a:r>
            <a:endParaRPr lang="en-US" altLang="en-US" sz="1400">
              <a:latin typeface="Times New Roman" panose="02020603050405020304" pitchFamily="18" charset="0"/>
              <a:cs typeface="Times New Roman" panose="02020603050405020304" pitchFamily="18" charset="0"/>
            </a:endParaRPr>
          </a:p>
          <a:p>
            <a:pPr>
              <a:lnSpc>
                <a:spcPct val="100000"/>
              </a:lnSpc>
            </a:pPr>
            <a:r>
              <a:rPr lang="en-US" altLang="en-US" sz="1400">
                <a:latin typeface="Times New Roman" panose="02020603050405020304" pitchFamily="18" charset="0"/>
                <a:cs typeface="Times New Roman" panose="02020603050405020304" pitchFamily="18" charset="0"/>
              </a:rPr>
              <a:t>Drug molecules were represented using Morgan fingerprint vectors.</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026160" y="0"/>
            <a:ext cx="6910070" cy="913765"/>
          </a:xfrm>
        </p:spPr>
        <p:txBody>
          <a:bodyPr/>
          <a:p>
            <a:r>
              <a:rPr lang="en-IN" altLang="en-US" sz="3200">
                <a:latin typeface="Times New Roman" panose="02020603050405020304" pitchFamily="18" charset="0"/>
                <a:cs typeface="Times New Roman" panose="02020603050405020304" pitchFamily="18" charset="0"/>
              </a:rPr>
              <a:t>Machine Learning Models</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a:xfrm>
            <a:off x="0" y="857885"/>
            <a:ext cx="8647430" cy="5861050"/>
          </a:xfrm>
        </p:spPr>
        <p:txBody>
          <a:bodyPr/>
          <a:p>
            <a:r>
              <a:rPr lang="en-US" altLang="en-US" sz="1400">
                <a:latin typeface="Times New Roman" panose="02020603050405020304" pitchFamily="18" charset="0"/>
                <a:cs typeface="Times New Roman" panose="02020603050405020304" pitchFamily="18" charset="0"/>
              </a:rPr>
              <a:t>The following machine learning models were trained and evaluated for Drug-Drug Interaction (DDI) prediction:</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Logistic Regression</a:t>
            </a:r>
            <a:endParaRPr lang="en-US" altLang="en-US" sz="1400" b="1">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Used as the baseline linear classification model.</a:t>
            </a:r>
            <a:endParaRPr lang="en-US" altLang="en-US" sz="1400">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Random Forest</a:t>
            </a:r>
            <a:endParaRPr lang="en-US" altLang="en-US" sz="1400" b="1">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Used for ensemble-based classification using multiple decision trees.</a:t>
            </a:r>
            <a:endParaRPr lang="en-US" altLang="en-US" sz="1400">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XGBoost</a:t>
            </a:r>
            <a:endParaRPr lang="en-US" altLang="en-US" sz="1400" b="1">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Used for high-performance gradient boosting and structured feature learning.</a:t>
            </a:r>
            <a:endParaRPr lang="en-US" altLang="en-US" sz="1400">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Neural Network using PyTorch</a:t>
            </a:r>
            <a:endParaRPr lang="en-US" altLang="en-US" sz="1400" b="1">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Used for learning complex non-linear relationships between molecular features.</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The models were evaluated using:</a:t>
            </a:r>
            <a:endParaRPr lang="en-US" altLang="en-US" sz="1400">
              <a:latin typeface="Times New Roman" panose="02020603050405020304" pitchFamily="18" charset="0"/>
              <a:cs typeface="Times New Roman" panose="02020603050405020304" pitchFamily="18" charset="0"/>
            </a:endParaRPr>
          </a:p>
          <a:p>
            <a:pPr marL="400050" indent="-400050">
              <a:buFont typeface="+mj-lt"/>
              <a:buAutoNum type="romanUcPeriod"/>
            </a:pPr>
            <a:r>
              <a:rPr lang="en-US" altLang="en-US" sz="1400">
                <a:latin typeface="Times New Roman" panose="02020603050405020304" pitchFamily="18" charset="0"/>
                <a:cs typeface="Times New Roman" panose="02020603050405020304" pitchFamily="18" charset="0"/>
              </a:rPr>
              <a:t>Accuracy</a:t>
            </a:r>
            <a:endParaRPr lang="en-US" altLang="en-US" sz="1400">
              <a:latin typeface="Times New Roman" panose="02020603050405020304" pitchFamily="18" charset="0"/>
              <a:cs typeface="Times New Roman" panose="02020603050405020304" pitchFamily="18" charset="0"/>
            </a:endParaRPr>
          </a:p>
          <a:p>
            <a:pPr marL="400050" indent="-400050">
              <a:buFont typeface="+mj-lt"/>
              <a:buAutoNum type="romanUcPeriod"/>
            </a:pPr>
            <a:r>
              <a:rPr lang="en-US" altLang="en-US" sz="1400">
                <a:latin typeface="Times New Roman" panose="02020603050405020304" pitchFamily="18" charset="0"/>
                <a:cs typeface="Times New Roman" panose="02020603050405020304" pitchFamily="18" charset="0"/>
              </a:rPr>
              <a:t>Precision</a:t>
            </a:r>
            <a:endParaRPr lang="en-US" altLang="en-US" sz="1400">
              <a:latin typeface="Times New Roman" panose="02020603050405020304" pitchFamily="18" charset="0"/>
              <a:cs typeface="Times New Roman" panose="02020603050405020304" pitchFamily="18" charset="0"/>
            </a:endParaRPr>
          </a:p>
          <a:p>
            <a:pPr marL="400050" indent="-400050">
              <a:buFont typeface="+mj-lt"/>
              <a:buAutoNum type="romanUcPeriod"/>
            </a:pPr>
            <a:r>
              <a:rPr lang="en-US" altLang="en-US" sz="1400">
                <a:latin typeface="Times New Roman" panose="02020603050405020304" pitchFamily="18" charset="0"/>
                <a:cs typeface="Times New Roman" panose="02020603050405020304" pitchFamily="18" charset="0"/>
              </a:rPr>
              <a:t>Recall</a:t>
            </a:r>
            <a:endParaRPr lang="en-US" altLang="en-US" sz="1400">
              <a:latin typeface="Times New Roman" panose="02020603050405020304" pitchFamily="18" charset="0"/>
              <a:cs typeface="Times New Roman" panose="02020603050405020304" pitchFamily="18" charset="0"/>
            </a:endParaRPr>
          </a:p>
          <a:p>
            <a:pPr marL="400050" indent="-400050">
              <a:buFont typeface="+mj-lt"/>
              <a:buAutoNum type="romanUcPeriod"/>
            </a:pPr>
            <a:r>
              <a:rPr lang="en-US" altLang="en-US" sz="1400">
                <a:latin typeface="Times New Roman" panose="02020603050405020304" pitchFamily="18" charset="0"/>
                <a:cs typeface="Times New Roman" panose="02020603050405020304" pitchFamily="18" charset="0"/>
              </a:rPr>
              <a:t>F1-Score</a:t>
            </a:r>
            <a:endParaRPr lang="en-US" altLang="en-US" sz="1400">
              <a:latin typeface="Times New Roman" panose="02020603050405020304" pitchFamily="18" charset="0"/>
              <a:cs typeface="Times New Roman" panose="02020603050405020304" pitchFamily="18" charset="0"/>
            </a:endParaRPr>
          </a:p>
          <a:p>
            <a:pPr marL="400050" indent="-400050">
              <a:buFont typeface="+mj-lt"/>
              <a:buAutoNum type="romanUcPeriod"/>
            </a:pPr>
            <a:r>
              <a:rPr lang="en-US" altLang="en-US" sz="1400">
                <a:latin typeface="Times New Roman" panose="02020603050405020304" pitchFamily="18" charset="0"/>
                <a:cs typeface="Times New Roman" panose="02020603050405020304" pitchFamily="18" charset="0"/>
              </a:rPr>
              <a:t>AUROC</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Among all models, the Neural Network achieved the best overall performance.</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531110" y="-53340"/>
            <a:ext cx="5486040" cy="914040"/>
          </a:xfrm>
        </p:spPr>
        <p:txBody>
          <a:bodyPr/>
          <a:p>
            <a:r>
              <a:rPr lang="en-IN" altLang="en-US" sz="3200">
                <a:latin typeface="Times New Roman" panose="02020603050405020304" pitchFamily="18" charset="0"/>
                <a:cs typeface="Times New Roman" panose="02020603050405020304" pitchFamily="18" charset="0"/>
              </a:rPr>
              <a:t>Results</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a:xfrm>
            <a:off x="0" y="860425"/>
            <a:ext cx="9060815" cy="5763895"/>
          </a:xfrm>
        </p:spPr>
        <p:txBody>
          <a:bodyPr/>
          <a:p>
            <a:r>
              <a:rPr lang="en-US" altLang="en-US" sz="1400">
                <a:latin typeface="Times New Roman" panose="02020603050405020304" pitchFamily="18" charset="0"/>
                <a:cs typeface="Times New Roman" panose="02020603050405020304" pitchFamily="18" charset="0"/>
              </a:rPr>
              <a:t>The machine learning models were evaluated using Accuracy, Precision, Recall, F1-Score, and AUROC metrics.</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Model Performance Comparison</a:t>
            </a:r>
            <a:endParaRPr lang="en-US" altLang="en-US" sz="1400" b="1">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Model	</a:t>
            </a:r>
            <a:r>
              <a:rPr lang="en-IN" altLang="en-US" sz="1400" b="1">
                <a:latin typeface="Times New Roman" panose="02020603050405020304" pitchFamily="18" charset="0"/>
                <a:cs typeface="Times New Roman" panose="02020603050405020304" pitchFamily="18" charset="0"/>
              </a:rPr>
              <a:t>	</a:t>
            </a:r>
            <a:r>
              <a:rPr lang="en-US" altLang="en-US" sz="1400" b="1">
                <a:latin typeface="Times New Roman" panose="02020603050405020304" pitchFamily="18" charset="0"/>
                <a:cs typeface="Times New Roman" panose="02020603050405020304" pitchFamily="18" charset="0"/>
              </a:rPr>
              <a:t>Accuracy	AUROC</a:t>
            </a:r>
            <a:endParaRPr lang="en-US" altLang="en-US" sz="1400" b="1">
              <a:latin typeface="Times New Roman" panose="02020603050405020304" pitchFamily="18" charset="0"/>
              <a:cs typeface="Times New Roman" panose="02020603050405020304" pitchFamily="18" charset="0"/>
            </a:endParaRPr>
          </a:p>
          <a:p>
            <a:pPr>
              <a:buFont typeface="Wingdings" panose="05000000000000000000" charset="0"/>
              <a:buChar char="o"/>
            </a:pPr>
            <a:r>
              <a:rPr lang="en-US" altLang="en-US" sz="1400">
                <a:latin typeface="Times New Roman" panose="02020603050405020304" pitchFamily="18" charset="0"/>
                <a:cs typeface="Times New Roman" panose="02020603050405020304" pitchFamily="18" charset="0"/>
              </a:rPr>
              <a:t>Logistic Regression	0.681	0.750</a:t>
            </a:r>
            <a:endParaRPr lang="en-US" altLang="en-US" sz="1400">
              <a:latin typeface="Times New Roman" panose="02020603050405020304" pitchFamily="18" charset="0"/>
              <a:cs typeface="Times New Roman" panose="02020603050405020304" pitchFamily="18" charset="0"/>
            </a:endParaRPr>
          </a:p>
          <a:p>
            <a:pPr>
              <a:buFont typeface="Wingdings" panose="05000000000000000000" charset="0"/>
              <a:buChar char="o"/>
            </a:pPr>
            <a:r>
              <a:rPr lang="en-US" altLang="en-US" sz="1400">
                <a:latin typeface="Times New Roman" panose="02020603050405020304" pitchFamily="18" charset="0"/>
                <a:cs typeface="Times New Roman" panose="02020603050405020304" pitchFamily="18" charset="0"/>
              </a:rPr>
              <a:t>Random Forest	0.623	0.686</a:t>
            </a:r>
            <a:endParaRPr lang="en-US" altLang="en-US" sz="1400">
              <a:latin typeface="Times New Roman" panose="02020603050405020304" pitchFamily="18" charset="0"/>
              <a:cs typeface="Times New Roman" panose="02020603050405020304" pitchFamily="18" charset="0"/>
            </a:endParaRPr>
          </a:p>
          <a:p>
            <a:pPr>
              <a:buFont typeface="Wingdings" panose="05000000000000000000" charset="0"/>
              <a:buChar char="o"/>
            </a:pPr>
            <a:r>
              <a:rPr lang="en-US" altLang="en-US" sz="1400">
                <a:latin typeface="Times New Roman" panose="02020603050405020304" pitchFamily="18" charset="0"/>
                <a:cs typeface="Times New Roman" panose="02020603050405020304" pitchFamily="18" charset="0"/>
              </a:rPr>
              <a:t>XGBoost	</a:t>
            </a:r>
            <a:r>
              <a:rPr lang="en-IN" altLang="en-US" sz="1400">
                <a:latin typeface="Times New Roman" panose="02020603050405020304" pitchFamily="18" charset="0"/>
                <a:cs typeface="Times New Roman" panose="02020603050405020304" pitchFamily="18" charset="0"/>
              </a:rPr>
              <a:t>	</a:t>
            </a:r>
            <a:r>
              <a:rPr lang="en-US" altLang="en-US" sz="1400">
                <a:latin typeface="Times New Roman" panose="02020603050405020304" pitchFamily="18" charset="0"/>
                <a:cs typeface="Times New Roman" panose="02020603050405020304" pitchFamily="18" charset="0"/>
              </a:rPr>
              <a:t>0.672	0.737</a:t>
            </a:r>
            <a:endParaRPr lang="en-US" altLang="en-US" sz="1400">
              <a:latin typeface="Times New Roman" panose="02020603050405020304" pitchFamily="18" charset="0"/>
              <a:cs typeface="Times New Roman" panose="02020603050405020304" pitchFamily="18" charset="0"/>
            </a:endParaRPr>
          </a:p>
          <a:p>
            <a:pPr>
              <a:buFont typeface="Wingdings" panose="05000000000000000000" charset="0"/>
              <a:buChar char="o"/>
            </a:pPr>
            <a:r>
              <a:rPr lang="en-US" altLang="en-US" sz="1400">
                <a:latin typeface="Times New Roman" panose="02020603050405020304" pitchFamily="18" charset="0"/>
                <a:cs typeface="Times New Roman" panose="02020603050405020304" pitchFamily="18" charset="0"/>
              </a:rPr>
              <a:t>Neural Network 	0.684	0.753</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b="1">
                <a:latin typeface="Times New Roman" panose="02020603050405020304" pitchFamily="18" charset="0"/>
                <a:cs typeface="Times New Roman" panose="02020603050405020304" pitchFamily="18" charset="0"/>
              </a:rPr>
              <a:t>Key Outcomes</a:t>
            </a:r>
            <a:endParaRPr lang="en-US" altLang="en-US" sz="1400" b="1">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Neural Network achieved the best overall performance.</a:t>
            </a:r>
            <a:endParaRPr lang="en-US" altLang="en-US" sz="1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Feature engineering improved prediction quality.</a:t>
            </a:r>
            <a:endParaRPr lang="en-US" altLang="en-US" sz="1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Molecular fingerprints and cosine similarity helped capture structural relationships between drugs.</a:t>
            </a:r>
            <a:endParaRPr lang="en-US" altLang="en-US" sz="14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US" sz="1400">
                <a:latin typeface="Times New Roman" panose="02020603050405020304" pitchFamily="18" charset="0"/>
                <a:cs typeface="Times New Roman" panose="02020603050405020304" pitchFamily="18" charset="0"/>
              </a:rPr>
              <a:t>The system successfully predicted potential drug-drug interactions using molecular and pharmacovigilance data.</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424430" y="0"/>
            <a:ext cx="5486040" cy="914040"/>
          </a:xfrm>
        </p:spPr>
        <p:txBody>
          <a:bodyPr/>
          <a:p>
            <a:r>
              <a:rPr lang="en-IN" altLang="en-US" sz="3200">
                <a:latin typeface="Times New Roman" panose="02020603050405020304" pitchFamily="18" charset="0"/>
                <a:cs typeface="Times New Roman" panose="02020603050405020304" pitchFamily="18" charset="0"/>
              </a:rPr>
              <a:t>Graphs</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a:xfrm>
            <a:off x="4384675" y="850265"/>
            <a:ext cx="4759325" cy="4525645"/>
          </a:xfrm>
        </p:spPr>
        <p:txBody>
          <a:bodyPr/>
          <a:p>
            <a:r>
              <a:rPr lang="en-IN" altLang="en-US" sz="1600">
                <a:latin typeface="Times New Roman" panose="02020603050405020304" pitchFamily="18" charset="0"/>
                <a:cs typeface="Times New Roman" panose="02020603050405020304" pitchFamily="18" charset="0"/>
              </a:rPr>
              <a:t>Confusion Matrices</a:t>
            </a:r>
            <a:endParaRPr lang="en-IN" altLang="en-US" sz="160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p:nvPr>
        </p:nvSpPr>
        <p:spPr>
          <a:xfrm>
            <a:off x="139065" y="913765"/>
            <a:ext cx="3814445" cy="4525645"/>
          </a:xfrm>
        </p:spPr>
        <p:txBody>
          <a:bodyPr/>
          <a:p>
            <a:r>
              <a:rPr lang="en-IN" altLang="en-US" sz="1600">
                <a:latin typeface="Times New Roman" panose="02020603050405020304" pitchFamily="18" charset="0"/>
                <a:cs typeface="Times New Roman" panose="02020603050405020304" pitchFamily="18" charset="0"/>
              </a:rPr>
              <a:t>ROC Curve</a:t>
            </a:r>
            <a:endParaRPr lang="en-IN" altLang="en-US" sz="160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260985" y="1413510"/>
            <a:ext cx="3692525" cy="2736215"/>
          </a:xfrm>
          <a:prstGeom prst="rect">
            <a:avLst/>
          </a:prstGeom>
        </p:spPr>
      </p:pic>
      <p:pic>
        <p:nvPicPr>
          <p:cNvPr id="8" name="Picture 7"/>
          <p:cNvPicPr>
            <a:picLocks noChangeAspect="1"/>
          </p:cNvPicPr>
          <p:nvPr/>
        </p:nvPicPr>
        <p:blipFill>
          <a:blip r:embed="rId2"/>
          <a:stretch>
            <a:fillRect/>
          </a:stretch>
        </p:blipFill>
        <p:spPr>
          <a:xfrm>
            <a:off x="4384675" y="1477645"/>
            <a:ext cx="4498975" cy="2494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105660" y="62230"/>
            <a:ext cx="5486040" cy="914040"/>
          </a:xfrm>
        </p:spPr>
        <p:txBody>
          <a:bodyPr/>
          <a:p>
            <a:r>
              <a:rPr lang="en-IN" altLang="en-US" sz="3200">
                <a:latin typeface="Times New Roman" panose="02020603050405020304" pitchFamily="18" charset="0"/>
                <a:cs typeface="Times New Roman" panose="02020603050405020304" pitchFamily="18" charset="0"/>
              </a:rPr>
              <a:t>Conclusion</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a:xfrm>
            <a:off x="67945" y="894080"/>
            <a:ext cx="8874125" cy="5666105"/>
          </a:xfrm>
        </p:spPr>
        <p:txBody>
          <a:bodyPr/>
          <a:p>
            <a:pPr algn="just">
              <a:lnSpc>
                <a:spcPct val="150000"/>
              </a:lnSpc>
            </a:pPr>
            <a:r>
              <a:rPr lang="en-US" altLang="en-US" sz="1400">
                <a:latin typeface="Times New Roman" panose="02020603050405020304" pitchFamily="18" charset="0"/>
                <a:cs typeface="Times New Roman" panose="02020603050405020304" pitchFamily="18" charset="0"/>
              </a:rPr>
              <a:t>The proposed system successfully predicted potential Drug-Drug Interactions (DDIs) using machine learning and molecular feature engineering techniques.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The TWOSIDES dataset and molecular structure information were effectively used for model training and evaluation.</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Morgan fingerprint vectors, cosine similarity, and structural comparison techniques helped improve prediction performance.</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Multiple machine learning models were trained and compared, including Logistic Regression, Random Forest, XGBoost, and Neural Networks.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The Neural Network model achieved the best overall performance with the highest AUROC score.</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A prediction interface was also developed using Gradio for user-friendly testing of drug interactions.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The project demonstrates that machine learning can provide an efficient and scalable approach for drug-drug interaction prediction.</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168525" y="0"/>
            <a:ext cx="5486040" cy="914040"/>
          </a:xfrm>
        </p:spPr>
        <p:txBody>
          <a:bodyPr/>
          <a:p>
            <a:r>
              <a:rPr lang="en-IN" altLang="en-US" sz="3200">
                <a:latin typeface="Times New Roman" panose="02020603050405020304" pitchFamily="18" charset="0"/>
                <a:cs typeface="Times New Roman" panose="02020603050405020304" pitchFamily="18" charset="0"/>
              </a:rPr>
              <a:t>Future Scope</a:t>
            </a:r>
            <a:endParaRPr lang="en-IN" altLang="en-US" sz="32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p:nvPr>
        </p:nvSpPr>
        <p:spPr>
          <a:xfrm>
            <a:off x="85725" y="913765"/>
            <a:ext cx="8918575" cy="5604510"/>
          </a:xfrm>
        </p:spPr>
        <p:txBody>
          <a:bodyPr/>
          <a:p>
            <a:pPr algn="just">
              <a:lnSpc>
                <a:spcPct val="150000"/>
              </a:lnSpc>
            </a:pPr>
            <a:r>
              <a:rPr lang="en-US" altLang="en-US" sz="1400">
                <a:latin typeface="Times New Roman" panose="02020603050405020304" pitchFamily="18" charset="0"/>
                <a:cs typeface="Times New Roman" panose="02020603050405020304" pitchFamily="18" charset="0"/>
              </a:rPr>
              <a:t>Implement advanced deep learning techniques such as Graph Neural Networks (GNNs) and transformer-based molecular models.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Integrate biological information such as protein targets, metabolic pathways, and gene interaction data for improved prediction accuracy.</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Extend the system to predict interaction severity levels such as mild, moderate, and severe interactions.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Incorporate dosage information and patient-specific medical data for personalized predictions.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Develop real-time drug interaction monitoring systems for hospitals and pharmacies.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Improve scalability through cloud-based deployment and larger pharmacovigilance datasets.</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Apply Explainable AI techniques to improve model interpretability and reliability.</a:t>
            </a:r>
            <a:endParaRPr lang="en-US" altLang="en-US" sz="1400">
              <a:latin typeface="Times New Roman" panose="02020603050405020304" pitchFamily="18" charset="0"/>
              <a:cs typeface="Times New Roman" panose="02020603050405020304" pitchFamily="18" charset="0"/>
            </a:endParaRPr>
          </a:p>
          <a:p>
            <a:pPr algn="just">
              <a:lnSpc>
                <a:spcPct val="150000"/>
              </a:lnSpc>
            </a:pPr>
            <a:r>
              <a:rPr lang="en-US" altLang="en-US" sz="1400">
                <a:latin typeface="Times New Roman" panose="02020603050405020304" pitchFamily="18" charset="0"/>
                <a:cs typeface="Times New Roman" panose="02020603050405020304" pitchFamily="18" charset="0"/>
              </a:rPr>
              <a:t>Extend the system for multi-drug interaction prediction instead of only pairwise drug interactions.</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0</TotalTime>
  <Words>6324</Words>
  <Application>WPS Presentation</Application>
  <PresentationFormat>On-screen Show (4:3)</PresentationFormat>
  <Paragraphs>129</Paragraphs>
  <Slides>11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Calibri</vt:lpstr>
      <vt:lpstr>MS PGothic</vt:lpstr>
      <vt:lpstr>Arial</vt:lpstr>
      <vt:lpstr>Times New Roman</vt:lpstr>
      <vt:lpstr>Times New Roman</vt:lpstr>
      <vt:lpstr>Calibri</vt:lpstr>
      <vt:lpstr>Microsoft YaHei</vt:lpstr>
      <vt:lpstr>Arial Unicode MS</vt:lpstr>
      <vt:lpstr>DejaVu Sans</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Paarth Sharma</cp:lastModifiedBy>
  <cp:revision>2310</cp:revision>
  <dcterms:created xsi:type="dcterms:W3CDTF">2010-04-09T07:36:00Z</dcterms:created>
  <dcterms:modified xsi:type="dcterms:W3CDTF">2026-05-14T17:33:08Z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C3699A446A7948EE924331A003ED9189_12</vt:lpwstr>
  </property>
  <property fmtid="{D5CDD505-2E9C-101B-9397-08002B2CF9AE}" pid="15" name="KSOProductBuildVer">
    <vt:lpwstr>1033-12.1.0.26372</vt:lpwstr>
  </property>
</Properties>
</file>